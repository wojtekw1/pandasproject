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0" r:id="rId7"/>
    <p:sldId id="274" r:id="rId8"/>
    <p:sldId id="261" r:id="rId9"/>
    <p:sldId id="262" r:id="rId10"/>
    <p:sldId id="271" r:id="rId11"/>
    <p:sldId id="272" r:id="rId12"/>
    <p:sldId id="273" r:id="rId13"/>
    <p:sldId id="263" r:id="rId14"/>
    <p:sldId id="264" r:id="rId15"/>
    <p:sldId id="265" r:id="rId16"/>
    <p:sldId id="275" r:id="rId17"/>
    <p:sldId id="276" r:id="rId18"/>
    <p:sldId id="277" r:id="rId19"/>
    <p:sldId id="266" r:id="rId20"/>
    <p:sldId id="267" r:id="rId21"/>
    <p:sldId id="26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Kraków</c:v>
                </c:pt>
              </c:strCache>
            </c:strRef>
          </c:tx>
          <c:spPr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2027</c:v>
                </c:pt>
                <c:pt idx="13">
                  <c:v>2028</c:v>
                </c:pt>
                <c:pt idx="14">
                  <c:v>2029</c:v>
                </c:pt>
                <c:pt idx="15">
                  <c:v>2030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52</c:v>
                </c:pt>
                <c:pt idx="1">
                  <c:v>45.2</c:v>
                </c:pt>
                <c:pt idx="2">
                  <c:v>40.1</c:v>
                </c:pt>
                <c:pt idx="3">
                  <c:v>36.799999999999997</c:v>
                </c:pt>
                <c:pt idx="4">
                  <c:v>29.3</c:v>
                </c:pt>
                <c:pt idx="5">
                  <c:v>27.1</c:v>
                </c:pt>
                <c:pt idx="6">
                  <c:v>25.4</c:v>
                </c:pt>
                <c:pt idx="7">
                  <c:v>23.8</c:v>
                </c:pt>
                <c:pt idx="8">
                  <c:v>20.100000000000001</c:v>
                </c:pt>
                <c:pt idx="9">
                  <c:v>18.7</c:v>
                </c:pt>
                <c:pt idx="10">
                  <c:v>17.2</c:v>
                </c:pt>
                <c:pt idx="11">
                  <c:v>16.100000000000001</c:v>
                </c:pt>
                <c:pt idx="12">
                  <c:v>15.3</c:v>
                </c:pt>
                <c:pt idx="13">
                  <c:v>14.8</c:v>
                </c:pt>
                <c:pt idx="14">
                  <c:v>14.4</c:v>
                </c:pt>
                <c:pt idx="15">
                  <c:v>14.1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FA8-4B4A-B8AB-256D4A880D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Katowice</c:v>
                </c:pt>
              </c:strCache>
            </c:strRef>
          </c:tx>
          <c:spPr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2027</c:v>
                </c:pt>
                <c:pt idx="13">
                  <c:v>2028</c:v>
                </c:pt>
                <c:pt idx="14">
                  <c:v>2029</c:v>
                </c:pt>
                <c:pt idx="15">
                  <c:v>2030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31.7</c:v>
                </c:pt>
                <c:pt idx="1">
                  <c:v>29.4</c:v>
                </c:pt>
                <c:pt idx="2">
                  <c:v>27.6</c:v>
                </c:pt>
                <c:pt idx="3">
                  <c:v>26.1</c:v>
                </c:pt>
                <c:pt idx="4">
                  <c:v>23.4</c:v>
                </c:pt>
                <c:pt idx="5">
                  <c:v>22</c:v>
                </c:pt>
                <c:pt idx="6">
                  <c:v>21.8</c:v>
                </c:pt>
                <c:pt idx="7">
                  <c:v>21.2</c:v>
                </c:pt>
                <c:pt idx="8">
                  <c:v>19.5</c:v>
                </c:pt>
                <c:pt idx="9">
                  <c:v>18</c:v>
                </c:pt>
                <c:pt idx="10">
                  <c:v>16.8</c:v>
                </c:pt>
                <c:pt idx="11">
                  <c:v>15.9</c:v>
                </c:pt>
                <c:pt idx="12">
                  <c:v>15.2</c:v>
                </c:pt>
                <c:pt idx="13">
                  <c:v>14.6</c:v>
                </c:pt>
                <c:pt idx="14">
                  <c:v>14.1</c:v>
                </c:pt>
                <c:pt idx="15">
                  <c:v>13.7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FA8-4B4A-B8AB-256D4A880D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Wrocław</c:v>
                </c:pt>
              </c:strCache>
            </c:strRef>
          </c:tx>
          <c:spPr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2027</c:v>
                </c:pt>
                <c:pt idx="13">
                  <c:v>2028</c:v>
                </c:pt>
                <c:pt idx="14">
                  <c:v>2029</c:v>
                </c:pt>
                <c:pt idx="15">
                  <c:v>2030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34</c:v>
                </c:pt>
                <c:pt idx="1">
                  <c:v>31.2</c:v>
                </c:pt>
                <c:pt idx="2">
                  <c:v>28.9</c:v>
                </c:pt>
                <c:pt idx="3">
                  <c:v>26.5</c:v>
                </c:pt>
                <c:pt idx="4">
                  <c:v>23.1</c:v>
                </c:pt>
                <c:pt idx="5">
                  <c:v>21.4</c:v>
                </c:pt>
                <c:pt idx="6">
                  <c:v>20.8</c:v>
                </c:pt>
                <c:pt idx="7">
                  <c:v>20.100000000000001</c:v>
                </c:pt>
                <c:pt idx="8">
                  <c:v>18.3</c:v>
                </c:pt>
                <c:pt idx="9">
                  <c:v>16.100000000000001</c:v>
                </c:pt>
                <c:pt idx="10">
                  <c:v>15</c:v>
                </c:pt>
                <c:pt idx="11">
                  <c:v>14.1</c:v>
                </c:pt>
                <c:pt idx="12">
                  <c:v>13.3</c:v>
                </c:pt>
                <c:pt idx="13">
                  <c:v>12.6</c:v>
                </c:pt>
                <c:pt idx="14">
                  <c:v>11.9</c:v>
                </c:pt>
                <c:pt idx="15">
                  <c:v>11.3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FA8-4B4A-B8AB-256D4A880D0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Warszawa</c:v>
                </c:pt>
              </c:strCache>
            </c:strRef>
          </c:tx>
          <c:spPr>
            <a:ln w="25400" cap="flat">
              <a:solidFill>
                <a:srgbClr val="457B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57B9D"/>
              </a:solidFill>
              <a:ln w="9525" cap="flat">
                <a:solidFill>
                  <a:srgbClr val="457B9D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2027</c:v>
                </c:pt>
                <c:pt idx="13">
                  <c:v>2028</c:v>
                </c:pt>
                <c:pt idx="14">
                  <c:v>2029</c:v>
                </c:pt>
                <c:pt idx="15">
                  <c:v>2030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29.2</c:v>
                </c:pt>
                <c:pt idx="1">
                  <c:v>27.1</c:v>
                </c:pt>
                <c:pt idx="2">
                  <c:v>25.4</c:v>
                </c:pt>
                <c:pt idx="3">
                  <c:v>23.8</c:v>
                </c:pt>
                <c:pt idx="4">
                  <c:v>21.2</c:v>
                </c:pt>
                <c:pt idx="5">
                  <c:v>19.5</c:v>
                </c:pt>
                <c:pt idx="6">
                  <c:v>19.100000000000001</c:v>
                </c:pt>
                <c:pt idx="7">
                  <c:v>18.600000000000001</c:v>
                </c:pt>
                <c:pt idx="8">
                  <c:v>16.899999999999999</c:v>
                </c:pt>
                <c:pt idx="9">
                  <c:v>15.7</c:v>
                </c:pt>
                <c:pt idx="10">
                  <c:v>14.6</c:v>
                </c:pt>
                <c:pt idx="11">
                  <c:v>13.6</c:v>
                </c:pt>
                <c:pt idx="12">
                  <c:v>12.8</c:v>
                </c:pt>
                <c:pt idx="13">
                  <c:v>12</c:v>
                </c:pt>
                <c:pt idx="14">
                  <c:v>11.3</c:v>
                </c:pt>
                <c:pt idx="15">
                  <c:v>10.7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AFA8-4B4A-B8AB-256D4A880D0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Gdańsk</c:v>
                </c:pt>
              </c:strCache>
            </c:strRef>
          </c:tx>
          <c:spPr>
            <a:ln w="25400" cap="flat">
              <a:solidFill>
                <a:srgbClr val="52B7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2027</c:v>
                </c:pt>
                <c:pt idx="13">
                  <c:v>2028</c:v>
                </c:pt>
                <c:pt idx="14">
                  <c:v>2029</c:v>
                </c:pt>
                <c:pt idx="15">
                  <c:v>2030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16.600000000000001</c:v>
                </c:pt>
                <c:pt idx="1">
                  <c:v>15.8</c:v>
                </c:pt>
                <c:pt idx="2">
                  <c:v>14.2</c:v>
                </c:pt>
                <c:pt idx="3">
                  <c:v>13.9</c:v>
                </c:pt>
                <c:pt idx="4">
                  <c:v>13.1</c:v>
                </c:pt>
                <c:pt idx="5">
                  <c:v>12.8</c:v>
                </c:pt>
                <c:pt idx="6">
                  <c:v>13.4</c:v>
                </c:pt>
                <c:pt idx="7">
                  <c:v>13.7</c:v>
                </c:pt>
                <c:pt idx="8">
                  <c:v>12.8</c:v>
                </c:pt>
                <c:pt idx="9">
                  <c:v>14.6</c:v>
                </c:pt>
                <c:pt idx="10">
                  <c:v>14.8</c:v>
                </c:pt>
                <c:pt idx="11">
                  <c:v>14.9</c:v>
                </c:pt>
                <c:pt idx="12">
                  <c:v>15</c:v>
                </c:pt>
                <c:pt idx="13">
                  <c:v>15.1</c:v>
                </c:pt>
                <c:pt idx="14">
                  <c:v>15.2</c:v>
                </c:pt>
                <c:pt idx="15">
                  <c:v>15.3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AFA8-4B4A-B8AB-256D4A880D0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Norma WHO</c:v>
                </c:pt>
              </c:strCache>
            </c:strRef>
          </c:tx>
          <c:spPr>
            <a:ln w="2540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2027</c:v>
                </c:pt>
                <c:pt idx="13">
                  <c:v>2028</c:v>
                </c:pt>
                <c:pt idx="14">
                  <c:v>2029</c:v>
                </c:pt>
                <c:pt idx="15">
                  <c:v>2030</c:v>
                </c:pt>
              </c:strCache>
            </c:strRef>
          </c:cat>
          <c:val>
            <c:numRef>
              <c:f>Sheet1!$G$2:$G$17</c:f>
              <c:numCache>
                <c:formatCode>General</c:formatCode>
                <c:ptCount val="16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15</c:v>
                </c:pt>
                <c:pt idx="12">
                  <c:v>15</c:v>
                </c:pt>
                <c:pt idx="13">
                  <c:v>15</c:v>
                </c:pt>
                <c:pt idx="14">
                  <c:v>15</c:v>
                </c:pt>
                <c:pt idx="15">
                  <c:v>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AFA8-4B4A-B8AB-256D4A880D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612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6070A-1F6C-05E8-BDB6-436B3111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B42DF-5AE1-6797-A743-9BBB0A35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868D3-AD1E-AA35-28CE-32B7BB247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26651-5A0F-FDCF-C25F-EBD2CE817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29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430A8-7024-5E9C-F5E2-55DA9FA9C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0FBC6-4B00-C427-480A-89C6DDFE2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A2762-54EC-9CC5-1A34-F6D5C7BAE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12BEF-527E-7812-24E8-0DABE942A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3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CCF77-C5CB-B4D7-B304-7E766C313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D2A34-F82D-A3BE-6E3B-882353B99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779D0-D5F3-DE0B-93E8-735D76731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979B1-E703-813E-413C-F6B8E66FD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20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E8FC-6115-D680-4CDC-FCD7FFAB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27118-E331-176E-2DE6-7C5464F70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52F54-E269-A401-D8FE-496DC19DE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41362-314A-98D2-C1D5-4242E72DBA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34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ECD4-034A-EC45-06F3-41B7B1907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E7AF2-85BA-ABB7-62B1-2119A66E2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BD755-AD23-CE8C-A2F5-DEC9E3115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A4578-3465-564C-2F99-76C541AE6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40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8CAE4">
              <a:alpha val="18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F1B2D"/>
                </a:solidFill>
              </a:rPr>
              <a:t>ANALIZA DANYCH · PYTHON · PANDAS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Jakość Powietrza</a:t>
            </a:r>
            <a:endParaRPr lang="en-US" sz="5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 Polsce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48CAE4"/>
                </a:solidFill>
              </a:rPr>
              <a:t>Analiza trendów PM2.5 w latach 2015–2024</a:t>
            </a:r>
            <a:endParaRPr lang="en-US" sz="16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48CAE4"/>
                </a:solidFill>
              </a:rPr>
              <a:t>oraz predykcja do roku 2030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41148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Źródło danych: GIOŚ — powietrze.gios.gov.pl/pjp/archives  |  6 miast  |  78 956 rekordów godzinowych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zbadaliśmy?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Trend wieloletni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Czy jakość powietrza poprawia się od 2015 roku?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983480" y="1170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Ranking miast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709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Które miasto ma najgorsze powietrze i dlaczego?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85800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Sezonowość smogu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Jak bardzo zima różni się od lata?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983480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Przekroczenia norm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Ile dni w roku Polska łamie normy WHO i EU?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85800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Wpływ regulacji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087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Uchwały antysmogowe, Czyste Powietrze, lockdown COVID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983480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Predykcja do 2030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4087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Kiedy polskie miasta osiągną normę WHO?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Dane i metodologia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</a:rPr>
              <a:t>Źródło</a:t>
            </a:r>
            <a:r>
              <a:rPr lang="en-US" sz="1400" b="1" dirty="0">
                <a:solidFill>
                  <a:srgbClr val="1E293B"/>
                </a:solidFill>
              </a:rPr>
              <a:t> danych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GIOŚ — Główny Inspektorat Ochrony Środowiska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powietrze.gios.gov.pl/pjp/archives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682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Pliki ZIP: roczne dane godzinowe (1g)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52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Wskaźnik: PM2.5 [µg/m³]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36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Lata: 2015–2024 (10 lat)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78 956 rekordów godzinowych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6 miast: Wrocław, Katowice, Kraków,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Warszawa, Poznań, Gdańsk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</a:rPr>
              <a:t>Metodologia</a:t>
            </a:r>
            <a:r>
              <a:rPr lang="en-US" sz="1400" b="1" dirty="0">
                <a:solidFill>
                  <a:srgbClr val="1E293B"/>
                </a:solidFill>
              </a:rPr>
              <a:t> (Python)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Pandas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ładowanie, merge stacji, agregacja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1305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Pre-processing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408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usuwanie outlierów &gt;500 µg/m³,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interpolacja brakujących (max 3h)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609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Scipy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71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testy Shapiro-Wilk, Kruskal-Wallis,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regresja liniowa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1912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Seaborn / Matplotlib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wykresy, heatmapy, boxploty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721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Prophet (Meta)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predykcja szeregów czasowych do 2030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Liczby mówią same za siebie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65960" cy="2468880"/>
          </a:xfrm>
          <a:prstGeom prst="rect">
            <a:avLst/>
          </a:prstGeom>
          <a:solidFill>
            <a:srgbClr val="1C2E44"/>
          </a:solidFill>
          <a:ln w="254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DC6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−64%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spadek PM2.5 w Krakowie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2015 → 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1965960" cy="2468880"/>
          </a:xfrm>
          <a:prstGeom prst="rect">
            <a:avLst/>
          </a:prstGeom>
          <a:solidFill>
            <a:srgbClr val="1C2E44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659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2606040" y="1188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µg/m³ — Kraków 2015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(norma WHO = 15)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65960" cy="2468880"/>
          </a:xfrm>
          <a:prstGeom prst="rect">
            <a:avLst/>
          </a:prstGeom>
          <a:solidFill>
            <a:srgbClr val="1C2E44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9659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754880" y="22402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dni z przekroczeniem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normy WHO w Krakowie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005840"/>
            <a:ext cx="1965960" cy="2468880"/>
          </a:xfrm>
          <a:prstGeom prst="rect">
            <a:avLst/>
          </a:prstGeom>
          <a:solidFill>
            <a:srgbClr val="1C2E44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903720" y="100584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903720" y="1188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903720" y="22402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Kraków gorszy od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Gdańska przez 10 lat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8CAE4"/>
                </a:solidFill>
              </a:rPr>
              <a:t>Gdańsk</a:t>
            </a:r>
            <a:r>
              <a:rPr lang="en-US" sz="1100" dirty="0">
                <a:solidFill>
                  <a:srgbClr val="48CAE4"/>
                </a:solidFill>
              </a:rPr>
              <a:t> — jedyne miasto poniżej normy WHO (śr. 13.9 µg/m³)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95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Kraków 2015: 3.5× powyżej normy WHO — najgorsze miasto w 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885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COVID 2020: widoczny spadek zanieczyszczeń w marcu–maju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811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Polska traci −1.55 µg/m³ rocznie — trend silnie spadkowy (R²=0.85)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 wieloletni PM2.5 (2015–2024)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Źródło: GIOŚ 2015–2024  |  dane godzinowe agregowane do średnich rocznych</a:t>
            </a:r>
            <a:endParaRPr lang="en-US" sz="8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443D7D0-863D-D0FB-6F42-059AE915A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61" y="727859"/>
            <a:ext cx="8471639" cy="4149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58361-CE0C-A50E-BFD2-4A3491E2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C25326-49E4-46D0-2E18-691FBCBE2A2D}"/>
              </a:ext>
            </a:extLst>
          </p:cNvPr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 wieloletni PM2.5 (2015–2024)</a:t>
            </a:r>
            <a:endParaRPr lang="en-US" sz="2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76FA0C-A430-B0B0-5D15-55387DA7B07B}"/>
              </a:ext>
            </a:extLst>
          </p:cNvPr>
          <p:cNvSpPr/>
          <p:nvPr/>
        </p:nvSpPr>
        <p:spPr>
          <a:xfrm>
            <a:off x="45720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Źródło: GIOŚ 2015–2024  |  dane godzinowe agregowane do średnich rocznych</a:t>
            </a:r>
            <a:endParaRPr lang="en-US" sz="8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608A3E8-930B-10DA-29A2-60935B2DD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81" y="846130"/>
            <a:ext cx="8690238" cy="429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5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4DE12-AD07-3B3D-5A31-A6B18F56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1198F0-DB01-E11F-730F-7EB529F59236}"/>
              </a:ext>
            </a:extLst>
          </p:cNvPr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F2CCEAA-A4FD-50E3-0BBC-504A5C884377}"/>
              </a:ext>
            </a:extLst>
          </p:cNvPr>
          <p:cNvSpPr/>
          <p:nvPr/>
        </p:nvSpPr>
        <p:spPr>
          <a:xfrm>
            <a:off x="45720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Źródło: GIOŚ 2015–2024  |  dane godzinowe agregowane do średnich rocznych</a:t>
            </a:r>
            <a:endParaRPr lang="en-US" sz="800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0687E064-EFA1-393D-4188-C3A6FD70D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2920"/>
            <a:ext cx="9144000" cy="453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6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Ranking miast — średnia 10-letnia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35040" y="105156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6035040" y="1051560"/>
            <a:ext cx="64008" cy="10789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6172200" y="1115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</a:rPr>
              <a:t>Gdańsk</a:t>
            </a:r>
            <a:r>
              <a:rPr lang="en-US" sz="1200" b="1" dirty="0">
                <a:solidFill>
                  <a:srgbClr val="1E293B"/>
                </a:solidFill>
              </a:rPr>
              <a:t>  1</a:t>
            </a:r>
            <a:r>
              <a:rPr lang="pl-PL" sz="1200" b="1" dirty="0">
                <a:solidFill>
                  <a:srgbClr val="1E293B"/>
                </a:solidFill>
              </a:rPr>
              <a:t>4.3</a:t>
            </a:r>
            <a:r>
              <a:rPr lang="en-US" sz="1200" b="1" dirty="0">
                <a:solidFill>
                  <a:srgbClr val="1E293B"/>
                </a:solidFill>
              </a:rPr>
              <a:t> µg/m³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7220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Jedyne </a:t>
            </a:r>
            <a:r>
              <a:rPr lang="en-US" sz="1000" dirty="0" err="1">
                <a:solidFill>
                  <a:srgbClr val="475569"/>
                </a:solidFill>
              </a:rPr>
              <a:t>miasto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pl-PL" sz="1000" dirty="0">
                <a:solidFill>
                  <a:srgbClr val="475569"/>
                </a:solidFill>
              </a:rPr>
              <a:t>poniżej</a:t>
            </a:r>
            <a:r>
              <a:rPr lang="en-US" sz="1000" dirty="0">
                <a:solidFill>
                  <a:srgbClr val="475569"/>
                </a:solidFill>
              </a:rPr>
              <a:t> normy WHO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2313432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6035040" y="2313432"/>
            <a:ext cx="6400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6172200" y="2377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Kraków  </a:t>
            </a:r>
            <a:r>
              <a:rPr lang="pl-PL" sz="1200" b="1" dirty="0">
                <a:solidFill>
                  <a:srgbClr val="1E293B"/>
                </a:solidFill>
              </a:rPr>
              <a:t>30.3</a:t>
            </a:r>
            <a:r>
              <a:rPr lang="en-US" sz="1200" b="1" dirty="0">
                <a:solidFill>
                  <a:srgbClr val="1E293B"/>
                </a:solidFill>
              </a:rPr>
              <a:t> µg/m³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200" y="2679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l-PL" sz="1000" dirty="0">
                <a:solidFill>
                  <a:srgbClr val="475569"/>
                </a:solidFill>
              </a:rPr>
              <a:t>Ponad</a:t>
            </a:r>
            <a:r>
              <a:rPr lang="en-US" sz="1000" dirty="0">
                <a:solidFill>
                  <a:srgbClr val="475569"/>
                </a:solidFill>
              </a:rPr>
              <a:t> 2× </a:t>
            </a:r>
            <a:r>
              <a:rPr lang="en-US" sz="1000" dirty="0" err="1">
                <a:solidFill>
                  <a:srgbClr val="475569"/>
                </a:solidFill>
              </a:rPr>
              <a:t>wyżej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pl-PL" sz="1000" dirty="0">
                <a:solidFill>
                  <a:srgbClr val="475569"/>
                </a:solidFill>
              </a:rPr>
              <a:t>od </a:t>
            </a:r>
            <a:r>
              <a:rPr lang="en-US" sz="1000" dirty="0" err="1">
                <a:solidFill>
                  <a:srgbClr val="475569"/>
                </a:solidFill>
              </a:rPr>
              <a:t>normy</a:t>
            </a:r>
            <a:r>
              <a:rPr lang="en-US" sz="1000" dirty="0">
                <a:solidFill>
                  <a:srgbClr val="475569"/>
                </a:solidFill>
              </a:rPr>
              <a:t> WHO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3639312"/>
            <a:ext cx="2743200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6035040" y="3575304"/>
            <a:ext cx="64008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6172200" y="36393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Katowice  23.6 µg/m³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2200" y="39410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Przemysł + ogrzewanie węglem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648006" y="4320540"/>
            <a:ext cx="27432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6172200" y="39776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Źródło: GIOŚ 2015–2024</a:t>
            </a:r>
            <a:endParaRPr lang="en-US" sz="800" dirty="0"/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D5F6B2FD-A549-8ECE-6D4B-0AADFEAA2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4" y="1272034"/>
            <a:ext cx="5686224" cy="2814316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12FC6A26-B999-5E96-A13D-A2D3E993DA6E}"/>
              </a:ext>
            </a:extLst>
          </p:cNvPr>
          <p:cNvSpPr txBox="1"/>
          <p:nvPr/>
        </p:nvSpPr>
        <p:spPr>
          <a:xfrm>
            <a:off x="3225854" y="4276307"/>
            <a:ext cx="2572214" cy="108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48CAE4"/>
                </a:solidFill>
              </a:rPr>
              <a:t>Norma WHO: 15 µg/m³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48CAE4"/>
                </a:solidFill>
              </a:rPr>
              <a:t>Norma EU: 25 µg/m³</a:t>
            </a:r>
            <a:endParaRPr lang="pl-PL" sz="1100" dirty="0">
              <a:solidFill>
                <a:srgbClr val="48CAE4"/>
              </a:solidFill>
            </a:endParaRPr>
          </a:p>
          <a:p>
            <a:pPr>
              <a:lnSpc>
                <a:spcPct val="140000"/>
              </a:lnSpc>
            </a:pPr>
            <a:r>
              <a:rPr lang="pl-PL" sz="1100" dirty="0">
                <a:solidFill>
                  <a:srgbClr val="48CAE4"/>
                </a:solidFill>
              </a:rPr>
              <a:t>Cel EU 2020: 10.0 </a:t>
            </a:r>
            <a:r>
              <a:rPr lang="en-US" sz="1100" dirty="0">
                <a:solidFill>
                  <a:srgbClr val="48CAE4"/>
                </a:solidFill>
              </a:rPr>
              <a:t>25 µg/m³</a:t>
            </a:r>
            <a:endParaRPr lang="en-US" sz="1100" dirty="0"/>
          </a:p>
          <a:p>
            <a:endParaRPr lang="pl-P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Sezonowość — zima vs lato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223760" y="1005840"/>
            <a:ext cx="1600200" cy="1188720"/>
          </a:xfrm>
          <a:prstGeom prst="rect">
            <a:avLst/>
          </a:prstGeom>
          <a:solidFill>
            <a:srgbClr val="E63946">
              <a:alpha val="9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722376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ZIMA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(Q1)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223760" y="1417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Kraków: ~</a:t>
            </a:r>
            <a:r>
              <a:rPr lang="pl-PL" sz="1000" dirty="0">
                <a:solidFill>
                  <a:srgbClr val="FFFFFF"/>
                </a:solidFill>
              </a:rPr>
              <a:t>42</a:t>
            </a:r>
            <a:r>
              <a:rPr lang="en-US" sz="1000" dirty="0">
                <a:solidFill>
                  <a:srgbClr val="FFFFFF"/>
                </a:solidFill>
              </a:rPr>
              <a:t> µg/m³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dirty="0">
                <a:solidFill>
                  <a:srgbClr val="FFFFFF"/>
                </a:solidFill>
              </a:rPr>
              <a:t>~</a:t>
            </a:r>
            <a:r>
              <a:rPr lang="en-US" sz="1000" dirty="0">
                <a:solidFill>
                  <a:srgbClr val="FFFFFF"/>
                </a:solidFill>
              </a:rPr>
              <a:t>3× powyżej WHO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223760" y="2377440"/>
            <a:ext cx="1600200" cy="1188720"/>
          </a:xfrm>
          <a:prstGeom prst="rect">
            <a:avLst/>
          </a:prstGeom>
          <a:solidFill>
            <a:srgbClr val="2DC653">
              <a:alpha val="90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722376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(Q3)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2788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Kraków: ~</a:t>
            </a:r>
            <a:r>
              <a:rPr lang="pl-PL" sz="1000" dirty="0">
                <a:solidFill>
                  <a:srgbClr val="FFFFFF"/>
                </a:solidFill>
              </a:rPr>
              <a:t>17</a:t>
            </a:r>
            <a:r>
              <a:rPr lang="en-US" sz="1000" dirty="0">
                <a:solidFill>
                  <a:srgbClr val="FFFFFF"/>
                </a:solidFill>
              </a:rPr>
              <a:t> µg/m³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dirty="0">
                <a:solidFill>
                  <a:srgbClr val="FFFFFF"/>
                </a:solidFill>
              </a:rPr>
              <a:t>Blisko</a:t>
            </a:r>
            <a:r>
              <a:rPr lang="en-US" sz="1000" dirty="0">
                <a:solidFill>
                  <a:srgbClr val="FFFFFF"/>
                </a:solidFill>
              </a:rPr>
              <a:t> normy WHO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23760" y="3749040"/>
            <a:ext cx="16002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7223760" y="3749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</a:rPr>
              <a:t>Różnica zima/lato: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</a:rPr>
              <a:t>do </a:t>
            </a:r>
            <a:r>
              <a:rPr lang="pl-PL" sz="1000" dirty="0">
                <a:solidFill>
                  <a:srgbClr val="48CAE4"/>
                </a:solidFill>
              </a:rPr>
              <a:t>5</a:t>
            </a:r>
            <a:r>
              <a:rPr lang="en-US" sz="1000" dirty="0">
                <a:solidFill>
                  <a:srgbClr val="48CAE4"/>
                </a:solidFill>
              </a:rPr>
              <a:t>× w </a:t>
            </a:r>
            <a:r>
              <a:rPr lang="en-US" sz="1000" dirty="0" err="1">
                <a:solidFill>
                  <a:srgbClr val="48CAE4"/>
                </a:solidFill>
              </a:rPr>
              <a:t>Krakowie</a:t>
            </a:r>
            <a:endParaRPr lang="en-US" sz="1000" dirty="0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70C534A4-4493-EE1B-7B97-B3D3E2EE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0898"/>
            <a:ext cx="6904737" cy="31560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D57A9-FDB5-03E8-3E5A-87EFEB884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ABA62A-0C31-1FE3-8D0A-EF91C982E5D2}"/>
              </a:ext>
            </a:extLst>
          </p:cNvPr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800" b="1" dirty="0" err="1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Heatmapa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2BF1A67-6631-C9C0-C0BA-9D8F52048C27}"/>
              </a:ext>
            </a:extLst>
          </p:cNvPr>
          <p:cNvSpPr/>
          <p:nvPr/>
        </p:nvSpPr>
        <p:spPr>
          <a:xfrm>
            <a:off x="722376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ZIMA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(Q1)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D0B942F-5E10-1FAF-DBA8-E3BE0B9B8722}"/>
              </a:ext>
            </a:extLst>
          </p:cNvPr>
          <p:cNvSpPr/>
          <p:nvPr/>
        </p:nvSpPr>
        <p:spPr>
          <a:xfrm>
            <a:off x="7223760" y="1417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Kraków: ~</a:t>
            </a:r>
            <a:r>
              <a:rPr lang="pl-PL" sz="1000" dirty="0">
                <a:solidFill>
                  <a:srgbClr val="FFFFFF"/>
                </a:solidFill>
              </a:rPr>
              <a:t>42</a:t>
            </a:r>
            <a:r>
              <a:rPr lang="en-US" sz="1000" dirty="0">
                <a:solidFill>
                  <a:srgbClr val="FFFFFF"/>
                </a:solidFill>
              </a:rPr>
              <a:t> µg/m³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dirty="0">
                <a:solidFill>
                  <a:srgbClr val="FFFFFF"/>
                </a:solidFill>
              </a:rPr>
              <a:t>~</a:t>
            </a:r>
            <a:r>
              <a:rPr lang="en-US" sz="1000" dirty="0">
                <a:solidFill>
                  <a:srgbClr val="FFFFFF"/>
                </a:solidFill>
              </a:rPr>
              <a:t>3× powyżej WHO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8FEB1A3-FDCC-CBA3-75D3-484A1FFEB75F}"/>
              </a:ext>
            </a:extLst>
          </p:cNvPr>
          <p:cNvSpPr/>
          <p:nvPr/>
        </p:nvSpPr>
        <p:spPr>
          <a:xfrm>
            <a:off x="722376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(Q3)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12EFC1C-5894-11D1-A258-D2F81B045857}"/>
              </a:ext>
            </a:extLst>
          </p:cNvPr>
          <p:cNvSpPr/>
          <p:nvPr/>
        </p:nvSpPr>
        <p:spPr>
          <a:xfrm>
            <a:off x="7223760" y="2788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Kraków: ~</a:t>
            </a:r>
            <a:r>
              <a:rPr lang="pl-PL" sz="1000" dirty="0">
                <a:solidFill>
                  <a:srgbClr val="FFFFFF"/>
                </a:solidFill>
              </a:rPr>
              <a:t>17</a:t>
            </a:r>
            <a:r>
              <a:rPr lang="en-US" sz="1000" dirty="0">
                <a:solidFill>
                  <a:srgbClr val="FFFFFF"/>
                </a:solidFill>
              </a:rPr>
              <a:t> µg/m³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dirty="0">
                <a:solidFill>
                  <a:srgbClr val="FFFFFF"/>
                </a:solidFill>
              </a:rPr>
              <a:t>Blisko</a:t>
            </a:r>
            <a:r>
              <a:rPr lang="en-US" sz="1000" dirty="0">
                <a:solidFill>
                  <a:srgbClr val="FFFFFF"/>
                </a:solidFill>
              </a:rPr>
              <a:t> normy WHO</a:t>
            </a:r>
            <a:endParaRPr lang="en-US" sz="1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9657F21-CA31-F860-1265-F698E6714B9F}"/>
              </a:ext>
            </a:extLst>
          </p:cNvPr>
          <p:cNvSpPr/>
          <p:nvPr/>
        </p:nvSpPr>
        <p:spPr>
          <a:xfrm>
            <a:off x="7223760" y="3749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</a:rPr>
              <a:t>Różnica zima/lato: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</a:rPr>
              <a:t>do </a:t>
            </a:r>
            <a:r>
              <a:rPr lang="pl-PL" sz="1000" dirty="0">
                <a:solidFill>
                  <a:srgbClr val="48CAE4"/>
                </a:solidFill>
              </a:rPr>
              <a:t>5</a:t>
            </a:r>
            <a:r>
              <a:rPr lang="en-US" sz="1000" dirty="0">
                <a:solidFill>
                  <a:srgbClr val="48CAE4"/>
                </a:solidFill>
              </a:rPr>
              <a:t>× w </a:t>
            </a:r>
            <a:r>
              <a:rPr lang="en-US" sz="1000" dirty="0" err="1">
                <a:solidFill>
                  <a:srgbClr val="48CAE4"/>
                </a:solidFill>
              </a:rPr>
              <a:t>Krakowie</a:t>
            </a:r>
            <a:endParaRPr lang="en-US" sz="1000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595572B0-4F0E-07AA-62A4-0C7066F89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23" y="777240"/>
            <a:ext cx="9006677" cy="444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5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D3049-3681-0D9C-AB8C-73BD41E3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6D3DB2-A468-8AE8-15EE-3B7CA5F3DE21}"/>
              </a:ext>
            </a:extLst>
          </p:cNvPr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800" dirty="0"/>
              <a:t>Rozkład dobowych stężeń PM2.5 (Wszystkie lata)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D0F1EC-1763-7F55-A50B-3DB8319662FC}"/>
              </a:ext>
            </a:extLst>
          </p:cNvPr>
          <p:cNvSpPr/>
          <p:nvPr/>
        </p:nvSpPr>
        <p:spPr>
          <a:xfrm>
            <a:off x="722376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ZIMA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(Q1)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F1FF413-AE9A-2D07-FB23-FB61B4FBCCC7}"/>
              </a:ext>
            </a:extLst>
          </p:cNvPr>
          <p:cNvSpPr/>
          <p:nvPr/>
        </p:nvSpPr>
        <p:spPr>
          <a:xfrm>
            <a:off x="7223760" y="1417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Kraków: ~</a:t>
            </a:r>
            <a:r>
              <a:rPr lang="pl-PL" sz="1000" dirty="0">
                <a:solidFill>
                  <a:srgbClr val="FFFFFF"/>
                </a:solidFill>
              </a:rPr>
              <a:t>42</a:t>
            </a:r>
            <a:r>
              <a:rPr lang="en-US" sz="1000" dirty="0">
                <a:solidFill>
                  <a:srgbClr val="FFFFFF"/>
                </a:solidFill>
              </a:rPr>
              <a:t> µg/m³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dirty="0">
                <a:solidFill>
                  <a:srgbClr val="FFFFFF"/>
                </a:solidFill>
              </a:rPr>
              <a:t>~</a:t>
            </a:r>
            <a:r>
              <a:rPr lang="en-US" sz="1000" dirty="0">
                <a:solidFill>
                  <a:srgbClr val="FFFFFF"/>
                </a:solidFill>
              </a:rPr>
              <a:t>3× powyżej WHO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E53132B-90D7-E156-FFA9-EAB29C6E3F17}"/>
              </a:ext>
            </a:extLst>
          </p:cNvPr>
          <p:cNvSpPr/>
          <p:nvPr/>
        </p:nvSpPr>
        <p:spPr>
          <a:xfrm>
            <a:off x="722376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(Q3)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1EEAD31-8541-3D47-0B6A-66189BC30FDC}"/>
              </a:ext>
            </a:extLst>
          </p:cNvPr>
          <p:cNvSpPr/>
          <p:nvPr/>
        </p:nvSpPr>
        <p:spPr>
          <a:xfrm>
            <a:off x="7223760" y="2788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Kraków: ~</a:t>
            </a:r>
            <a:r>
              <a:rPr lang="pl-PL" sz="1000" dirty="0">
                <a:solidFill>
                  <a:srgbClr val="FFFFFF"/>
                </a:solidFill>
              </a:rPr>
              <a:t>17</a:t>
            </a:r>
            <a:r>
              <a:rPr lang="en-US" sz="1000" dirty="0">
                <a:solidFill>
                  <a:srgbClr val="FFFFFF"/>
                </a:solidFill>
              </a:rPr>
              <a:t> µg/m³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dirty="0">
                <a:solidFill>
                  <a:srgbClr val="FFFFFF"/>
                </a:solidFill>
              </a:rPr>
              <a:t>Blisko</a:t>
            </a:r>
            <a:r>
              <a:rPr lang="en-US" sz="1000" dirty="0">
                <a:solidFill>
                  <a:srgbClr val="FFFFFF"/>
                </a:solidFill>
              </a:rPr>
              <a:t> normy WHO</a:t>
            </a:r>
            <a:endParaRPr lang="en-US" sz="1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2BA2A05-8F50-F09A-C773-1F3512ED10FB}"/>
              </a:ext>
            </a:extLst>
          </p:cNvPr>
          <p:cNvSpPr/>
          <p:nvPr/>
        </p:nvSpPr>
        <p:spPr>
          <a:xfrm>
            <a:off x="7223760" y="3749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</a:rPr>
              <a:t>Różnica zima/lato: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</a:rPr>
              <a:t>do </a:t>
            </a:r>
            <a:r>
              <a:rPr lang="pl-PL" sz="1000" dirty="0">
                <a:solidFill>
                  <a:srgbClr val="48CAE4"/>
                </a:solidFill>
              </a:rPr>
              <a:t>5</a:t>
            </a:r>
            <a:r>
              <a:rPr lang="en-US" sz="1000" dirty="0">
                <a:solidFill>
                  <a:srgbClr val="48CAE4"/>
                </a:solidFill>
              </a:rPr>
              <a:t>× w </a:t>
            </a:r>
            <a:r>
              <a:rPr lang="en-US" sz="1000" dirty="0" err="1">
                <a:solidFill>
                  <a:srgbClr val="48CAE4"/>
                </a:solidFill>
              </a:rPr>
              <a:t>Krakowie</a:t>
            </a:r>
            <a:endParaRPr lang="en-US" sz="1000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B793DC1-F1BB-61EF-5A22-8AB553C34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096"/>
            <a:ext cx="9144000" cy="451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9E5EB-50E4-4050-D8E8-4C5E9D34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A00674-F3D4-86DC-DBE6-ADC1320E9AA6}"/>
              </a:ext>
            </a:extLst>
          </p:cNvPr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800" dirty="0"/>
              <a:t>Korelacja między miastami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1B06C75-62ED-2372-77BA-C4F0E722C7D3}"/>
              </a:ext>
            </a:extLst>
          </p:cNvPr>
          <p:cNvSpPr/>
          <p:nvPr/>
        </p:nvSpPr>
        <p:spPr>
          <a:xfrm>
            <a:off x="722376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ZIMA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(Q1)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9919A0-19BD-5A1D-B209-A8E053E9892E}"/>
              </a:ext>
            </a:extLst>
          </p:cNvPr>
          <p:cNvSpPr/>
          <p:nvPr/>
        </p:nvSpPr>
        <p:spPr>
          <a:xfrm>
            <a:off x="7223760" y="1417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Kraków: ~</a:t>
            </a:r>
            <a:r>
              <a:rPr lang="pl-PL" sz="1000" dirty="0">
                <a:solidFill>
                  <a:srgbClr val="FFFFFF"/>
                </a:solidFill>
              </a:rPr>
              <a:t>42</a:t>
            </a:r>
            <a:r>
              <a:rPr lang="en-US" sz="1000" dirty="0">
                <a:solidFill>
                  <a:srgbClr val="FFFFFF"/>
                </a:solidFill>
              </a:rPr>
              <a:t> µg/m³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dirty="0">
                <a:solidFill>
                  <a:srgbClr val="FFFFFF"/>
                </a:solidFill>
              </a:rPr>
              <a:t>~</a:t>
            </a:r>
            <a:r>
              <a:rPr lang="en-US" sz="1000" dirty="0">
                <a:solidFill>
                  <a:srgbClr val="FFFFFF"/>
                </a:solidFill>
              </a:rPr>
              <a:t>3× powyżej WHO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699A862-D8D8-027C-E6A2-A2B9D4507965}"/>
              </a:ext>
            </a:extLst>
          </p:cNvPr>
          <p:cNvSpPr/>
          <p:nvPr/>
        </p:nvSpPr>
        <p:spPr>
          <a:xfrm>
            <a:off x="722376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(Q3)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45AC23D-47E9-8ACE-A577-55991A9FB9E4}"/>
              </a:ext>
            </a:extLst>
          </p:cNvPr>
          <p:cNvSpPr/>
          <p:nvPr/>
        </p:nvSpPr>
        <p:spPr>
          <a:xfrm>
            <a:off x="7223760" y="2788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Kraków: ~</a:t>
            </a:r>
            <a:r>
              <a:rPr lang="pl-PL" sz="1000" dirty="0">
                <a:solidFill>
                  <a:srgbClr val="FFFFFF"/>
                </a:solidFill>
              </a:rPr>
              <a:t>17</a:t>
            </a:r>
            <a:r>
              <a:rPr lang="en-US" sz="1000" dirty="0">
                <a:solidFill>
                  <a:srgbClr val="FFFFFF"/>
                </a:solidFill>
              </a:rPr>
              <a:t> µg/m³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dirty="0">
                <a:solidFill>
                  <a:srgbClr val="FFFFFF"/>
                </a:solidFill>
              </a:rPr>
              <a:t>Blisko</a:t>
            </a:r>
            <a:r>
              <a:rPr lang="en-US" sz="1000" dirty="0">
                <a:solidFill>
                  <a:srgbClr val="FFFFFF"/>
                </a:solidFill>
              </a:rPr>
              <a:t> normy WHO</a:t>
            </a:r>
            <a:endParaRPr lang="en-US" sz="1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365E4BA-0CE7-30D4-D21C-FCC6F3CD16D7}"/>
              </a:ext>
            </a:extLst>
          </p:cNvPr>
          <p:cNvSpPr/>
          <p:nvPr/>
        </p:nvSpPr>
        <p:spPr>
          <a:xfrm>
            <a:off x="7223760" y="3749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</a:rPr>
              <a:t>Różnica zima/lato: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</a:rPr>
              <a:t>do </a:t>
            </a:r>
            <a:r>
              <a:rPr lang="pl-PL" sz="1000" dirty="0">
                <a:solidFill>
                  <a:srgbClr val="48CAE4"/>
                </a:solidFill>
              </a:rPr>
              <a:t>5</a:t>
            </a:r>
            <a:r>
              <a:rPr lang="en-US" sz="1000" dirty="0">
                <a:solidFill>
                  <a:srgbClr val="48CAE4"/>
                </a:solidFill>
              </a:rPr>
              <a:t>× w </a:t>
            </a:r>
            <a:r>
              <a:rPr lang="en-US" sz="1000" dirty="0" err="1">
                <a:solidFill>
                  <a:srgbClr val="48CAE4"/>
                </a:solidFill>
              </a:rPr>
              <a:t>Krakowie</a:t>
            </a:r>
            <a:endParaRPr lang="en-US" sz="10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D219F0C9-1984-B95F-2B7A-C4EF95C68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8" y="777241"/>
            <a:ext cx="8919512" cy="436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8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Ile dni w roku przekraczamy normę WHO?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035040" y="960120"/>
            <a:ext cx="2743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6126480" y="1005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Kraków: 70% dni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= co drugi dzień smog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35040" y="1920240"/>
            <a:ext cx="2743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612648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Tylko Gdańsk ma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&lt;50% dni przekroczeń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880360"/>
            <a:ext cx="2743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612648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Żadne miasto nie spełnia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normy EU 2030 (10 µg/m³)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3840480"/>
            <a:ext cx="2743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6126480" y="3886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2349 dni z przekroczeniem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pl-PL" sz="1100" dirty="0">
                <a:solidFill>
                  <a:srgbClr val="1E293B"/>
                </a:solidFill>
              </a:rPr>
              <a:t>W dekadzie</a:t>
            </a:r>
            <a:r>
              <a:rPr lang="en-US" sz="1100" dirty="0">
                <a:solidFill>
                  <a:srgbClr val="1E293B"/>
                </a:solidFill>
              </a:rPr>
              <a:t> dla Krakowa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Norma WHO: 15 µg/m³  |  Norma EU: 25 µg/m³  |  Cel EU 2030: 10 µg/m³</a:t>
            </a:r>
            <a:endParaRPr lang="en-US" sz="800" dirty="0"/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8229B2FC-82D1-5AFC-DCA8-74A6363A4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0" y="1354988"/>
            <a:ext cx="5874160" cy="26849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Kluczowe regulacje a jakość powietrza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8138160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432" cy="1097280"/>
          </a:xfrm>
          <a:prstGeom prst="rect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164592" cy="164592"/>
          </a:xfrm>
          <a:prstGeom prst="ellipse">
            <a:avLst/>
          </a:prstGeom>
          <a:solidFill>
            <a:srgbClr val="E63946"/>
          </a:solidFill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2624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CAE4"/>
                </a:solidFill>
              </a:rPr>
              <a:t>2015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Brak regulacji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smog 52 µg/m³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w Krakowie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0240" y="2615184"/>
            <a:ext cx="27432" cy="10972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1874520" y="2395728"/>
            <a:ext cx="164592" cy="164592"/>
          </a:xfrm>
          <a:prstGeom prst="ellipse">
            <a:avLst/>
          </a:prstGeom>
          <a:solidFill>
            <a:srgbClr val="00B4D8"/>
          </a:solidFill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691640" y="2624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CAE4"/>
                </a:solidFill>
              </a:rPr>
              <a:t>2017-07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Uchwała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Małopolska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(zakaz mułów)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34640" y="1417320"/>
            <a:ext cx="27432" cy="1097280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2788920" y="2395728"/>
            <a:ext cx="164592" cy="164592"/>
          </a:xfrm>
          <a:prstGeom prst="ellipse">
            <a:avLst/>
          </a:prstGeom>
          <a:solidFill>
            <a:srgbClr val="2DC653"/>
          </a:solidFill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606040" y="2624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CAE4"/>
                </a:solidFill>
              </a:rPr>
              <a:t>2018-09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68880" y="86868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Start programu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Czyste Powietrze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103 mld zł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31920" y="2615184"/>
            <a:ext cx="27432" cy="10972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3886200" y="2395728"/>
            <a:ext cx="164592" cy="164592"/>
          </a:xfrm>
          <a:prstGeom prst="ellipse">
            <a:avLst/>
          </a:prstGeom>
          <a:solidFill>
            <a:srgbClr val="00B4D8"/>
          </a:solidFill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703320" y="2624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CAE4"/>
                </a:solidFill>
              </a:rPr>
              <a:t>2019-09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66160" y="288036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Kraków: zakaz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węgla i drewna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(1. w Polsce!)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92040" y="1417320"/>
            <a:ext cx="27432" cy="109728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4846320" y="2395728"/>
            <a:ext cx="164592" cy="164592"/>
          </a:xfrm>
          <a:prstGeom prst="ellipse">
            <a:avLst/>
          </a:prstGeom>
          <a:solidFill>
            <a:srgbClr val="F4A261"/>
          </a:solidFill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663440" y="2624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CAE4"/>
                </a:solidFill>
              </a:rPr>
              <a:t>2020-03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26280" y="86868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Lockdown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COVID-19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effekt czystego nieba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89320" y="2615184"/>
            <a:ext cx="27432" cy="109728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5943600" y="2395728"/>
            <a:ext cx="164592" cy="164592"/>
          </a:xfrm>
          <a:prstGeom prst="ellipse">
            <a:avLst/>
          </a:prstGeom>
          <a:solidFill>
            <a:srgbClr val="F4A261"/>
          </a:solidFill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5760720" y="2624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CAE4"/>
                </a:solidFill>
              </a:rPr>
              <a:t>2022-02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23560" y="288036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Kryzys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energetyczny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(Ukraina)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60920" y="1417320"/>
            <a:ext cx="27432" cy="1097280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7315200" y="2395728"/>
            <a:ext cx="164592" cy="164592"/>
          </a:xfrm>
          <a:prstGeom prst="ellipse">
            <a:avLst/>
          </a:prstGeom>
          <a:solidFill>
            <a:srgbClr val="2DC653"/>
          </a:solidFill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7132320" y="2624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CAE4"/>
                </a:solidFill>
              </a:rPr>
              <a:t>2024-05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95160" y="86868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Zakaz kopciuchów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w Małopolsce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(przesunięty)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8138160" cy="777240"/>
          </a:xfrm>
          <a:prstGeom prst="rect">
            <a:avLst/>
          </a:prstGeom>
          <a:solidFill>
            <a:srgbClr val="1C2E4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731520" y="4114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8CAE4"/>
                </a:solidFill>
              </a:rPr>
              <a:t>Analiza trendu potwierdza: każda kolejna regulacja była widoczna w danych — Kraków spadł z 52 µg/m³ (2015) do 18.7 µg/m³ (2024), czyli −64% w 9 latach.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Predykcja PM2.5 do 2030 (Prophet/Meta)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914400"/>
            <a:ext cx="2240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667512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Kiedy norma WHO?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0" y="1298448"/>
            <a:ext cx="2240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6675120" y="1417320"/>
            <a:ext cx="128016" cy="12801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6876288" y="1389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Wrocław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76288" y="15727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</a:rPr>
              <a:t>2025-08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75120" y="1947672"/>
            <a:ext cx="128016" cy="128016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6876288" y="1920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Warszawa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76288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</a:rPr>
              <a:t>2025-07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75120" y="2478024"/>
            <a:ext cx="128016" cy="128016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6876288" y="2450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Poznań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76288" y="26334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</a:rPr>
              <a:t>2025-08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75120" y="300837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6876288" y="29809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Katowice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76288" y="31638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</a:rPr>
              <a:t>2028-12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75120" y="3538728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7"/>
          <p:cNvSpPr/>
          <p:nvPr/>
        </p:nvSpPr>
        <p:spPr>
          <a:xfrm>
            <a:off x="6876288" y="3511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Kraków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76288" y="3694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</a:rPr>
              <a:t>2030-04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675120" y="4069080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0"/>
          <p:cNvSpPr/>
          <p:nvPr/>
        </p:nvSpPr>
        <p:spPr>
          <a:xfrm>
            <a:off x="6876288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Gdańsk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76288" y="4224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trend ↑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80960" y="4368527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Model: Prophet (Meta)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Przedział ufności 95%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Baza: dane 2015–2024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618CA4BF-1458-8515-4CA7-B1483AE8F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618"/>
            <a:ext cx="9144000" cy="45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05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B000-5BBB-EE8A-3D2C-62824066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3EE9C96F-EAB9-1FE7-9E11-734994A0F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443"/>
            <a:ext cx="9144000" cy="448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53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6136E40-DCB8-9CB1-B97C-13BFC72D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102"/>
            <a:ext cx="9144000" cy="449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Analiza statystyczna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7040880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Miasto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Dni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Średnia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Mediana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Odch.std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Trend/rok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Wrocław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3316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20.6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−1.59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Katowice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3281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23.6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17.6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20.1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−1.75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Kraków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3332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28.2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21.1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23.5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−3.55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Warszawa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3314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21.2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17.5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13.3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−1.57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Poznań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2669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13.7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−0.99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Gdańsk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3137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13.9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11.1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9.5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+0.14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11880"/>
            <a:ext cx="40690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594360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Test Shapiro-Wilka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p = 0.0000 dla wszystkich miast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41788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Rozkład PM2.5 jest NIE-normalny (prawostronnie skośny) — typowe dla danych środowiskowych. Uzasadnia użycie testów nieparametrycznych.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3611880"/>
            <a:ext cx="40690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4846320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Test Kruskala-Wallisa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 = 1885.42, p &lt; 0.0001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41788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Różnice między miastami są ISTOTNE statystycznie. To nie przypadek — geografia i struktura energetyczna determinują jakość powietrza.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Wnioski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87952" cy="1005840"/>
          </a:xfrm>
          <a:prstGeom prst="rect">
            <a:avLst/>
          </a:prstGeom>
          <a:solidFill>
            <a:srgbClr val="1C2E44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64008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Polska </a:t>
            </a:r>
            <a:r>
              <a:rPr lang="en-US" sz="1100" b="1" dirty="0" err="1">
                <a:solidFill>
                  <a:srgbClr val="FFFFFF"/>
                </a:solidFill>
              </a:rPr>
              <a:t>powietrze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pl-PL" sz="1100" b="1" dirty="0">
                <a:solidFill>
                  <a:srgbClr val="FFFFFF"/>
                </a:solidFill>
              </a:rPr>
              <a:t>poprawia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się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pl-PL" sz="1100" b="1" dirty="0">
                <a:solidFill>
                  <a:srgbClr val="FFFFFF"/>
                </a:solidFill>
              </a:rPr>
              <a:t>drastycznie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Kraków: −64% PM2.5 w 9 latach (52 → 18.7 µg/m³). Każda regulacja była widoczna w danych.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28032" y="960120"/>
            <a:ext cx="4187952" cy="1005840"/>
          </a:xfrm>
          <a:prstGeom prst="rect">
            <a:avLst/>
          </a:prstGeom>
          <a:solidFill>
            <a:srgbClr val="1C2E44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828032" y="960120"/>
            <a:ext cx="64008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965192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65192" y="12344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FFFFFF"/>
                </a:solidFill>
              </a:rPr>
              <a:t>Polsce w</a:t>
            </a:r>
            <a:r>
              <a:rPr lang="en-US" sz="1100" b="1" dirty="0" err="1">
                <a:solidFill>
                  <a:srgbClr val="FFFFFF"/>
                </a:solidFill>
              </a:rPr>
              <a:t>ciąż</a:t>
            </a:r>
            <a:r>
              <a:rPr lang="en-US" sz="1100" b="1" dirty="0">
                <a:solidFill>
                  <a:srgbClr val="FFFFFF"/>
                </a:solidFill>
              </a:rPr>
              <a:t> daleko do normy WHO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1490472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5 z 6 miast nadal powyżej normy WHO. Kraków przekracza ją przez 70% dni w roku.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130552"/>
            <a:ext cx="4187952" cy="1005840"/>
          </a:xfrm>
          <a:prstGeom prst="rect">
            <a:avLst/>
          </a:prstGeom>
          <a:solidFill>
            <a:srgbClr val="1C2E4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457200" y="2130552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9436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4048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Smog w Polsce ma charakter ogólnopolski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660904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Korelacja Spearmana ~0.8–0.94 między miastami — zjawisko meteorologiczne, nie tylko lokalne.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28032" y="2130552"/>
            <a:ext cx="4187952" cy="1005840"/>
          </a:xfrm>
          <a:prstGeom prst="rect">
            <a:avLst/>
          </a:prstGeom>
          <a:solidFill>
            <a:srgbClr val="1C2E4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4828032" y="2130552"/>
            <a:ext cx="64008" cy="10058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965192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CAE4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5192" y="24048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Gdańsk to wyjątek dzięki geografii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192" y="2660904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Wiatry morskie chronią miasto. Jedyne miasto poniżej normy WHO (śr. 13.9 µg/m³). Ale 2024 </a:t>
            </a:r>
            <a:r>
              <a:rPr lang="en-US" sz="950" dirty="0" err="1">
                <a:solidFill>
                  <a:srgbClr val="64748B"/>
                </a:solidFill>
              </a:rPr>
              <a:t>był</a:t>
            </a:r>
            <a:r>
              <a:rPr lang="en-US" sz="950" dirty="0">
                <a:solidFill>
                  <a:srgbClr val="64748B"/>
                </a:solidFill>
              </a:rPr>
              <a:t> </a:t>
            </a:r>
            <a:r>
              <a:rPr lang="pl-PL" sz="950" dirty="0">
                <a:solidFill>
                  <a:srgbClr val="64748B"/>
                </a:solidFill>
              </a:rPr>
              <a:t>w tym mieście gorszy.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94560" y="3300984"/>
            <a:ext cx="4754880" cy="1005840"/>
          </a:xfrm>
          <a:prstGeom prst="rect">
            <a:avLst/>
          </a:prstGeom>
          <a:solidFill>
            <a:srgbClr val="1C2E44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2194560" y="3300984"/>
            <a:ext cx="64008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233172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57530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Predykcja: norma WHO osiągalna do 2030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383133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Wrocław/Warszawa ~2025, Katowice ~2028, Kraków ~2030. Cel EU 2030 (10 µg/m³) — realny ok. 2027.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Dane: GIOŚ 2015–2024  |  Analiza: Python, Pandas, Prophet  |  Testy: Shapiro-Wilk, Kruskal-Wallis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8CAE4">
              <a:alpha val="12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Dziękujemy</a:t>
            </a:r>
            <a:endParaRPr lang="en-US" sz="5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 uwagę!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8CAE4"/>
                </a:solidFill>
              </a:rPr>
              <a:t>Analiza jakości powietrza w Polsce 2015–2024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886200"/>
            <a:ext cx="27432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Dane: GIOŚ · powietrze.gios.gov.pl/pjp/archives  |  Python · Pandas · Prophet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1161</Words>
  <Application>Microsoft Office PowerPoint</Application>
  <PresentationFormat>Pokaz na ekranie (16:9)</PresentationFormat>
  <Paragraphs>277</Paragraphs>
  <Slides>21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4" baseType="lpstr">
      <vt:lpstr>Arial</vt:lpstr>
      <vt:lpstr>Arial Black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jakości powietrza w Polsce 2015–2024</dc:title>
  <dc:subject>PptxGenJS Presentation</dc:subject>
  <dc:creator>PptxGenJS</dc:creator>
  <cp:lastModifiedBy>Dominik 180793</cp:lastModifiedBy>
  <cp:revision>4</cp:revision>
  <dcterms:created xsi:type="dcterms:W3CDTF">2026-05-23T21:19:17Z</dcterms:created>
  <dcterms:modified xsi:type="dcterms:W3CDTF">2026-05-30T07:32:16Z</dcterms:modified>
</cp:coreProperties>
</file>